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MiSans" charset="-122" pitchFamily="34"/>
      <p:regular r:id="rId18"/>
    </p:embeddedFont>
    <p:embeddedFont>
      <p:font typeface="Noto Sans SC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6-d2r90vhe3tpg8rchuqgg.png">    </p:cNvPr>
          <p:cNvPicPr>
            <a:picLocks noChangeAspect="1"/>
          </p:cNvPicPr>
          <p:nvPr/>
        </p:nvPicPr>
        <p:blipFill>
          <a:blip r:embed="rId1"/>
          <a:srcRect l="10" r="10" t="0" b="0"/>
          <a:stretch/>
        </p:blipFill>
        <p:spPr>
          <a:xfrm>
            <a:off x="0" y="-111079"/>
            <a:ext cx="12213590" cy="68605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9605" y="1517015"/>
            <a:ext cx="11389995" cy="21158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BioClaim Guard: </a:t>
            </a:r>
            <a:pPr indent="0" marL="0">
              <a:lnSpc>
                <a:spcPct val="110000"/>
              </a:lnSpc>
              <a:buNone/>
            </a:pPr>
            <a:r>
              <a:rPr lang="en-US" sz="5800" b="1" spc="-30" kern="0" dirty="0">
                <a:solidFill>
                  <a:srgbClr val="FFFFFF"/>
                </a:solidFill>
                <a:latin typeface="Neue Haas Grotesk Text Pro, Neue Haas Grotesk Text Pro_EmbeddedFont, Neue Haas Grotesk Text Pro_MSFontService, sans-serif" pitchFamily="34" charset="0"/>
                <a:ea typeface="Neue Haas Grotesk Text Pro, Neue Haas Grotesk Text Pro_EmbeddedFont, Neue Haas Grotesk Text Pro_MSFontService, sans-serif" pitchFamily="34" charset="-122"/>
                <a:cs typeface="Neue Haas Grotesk Text Pro, Neue Haas Grotesk Text Pro_EmbeddedFont, Neue Haas Grotesk Text Pro_MSFontService, sans-serif" pitchFamily="34" charset="-120"/>
              </a:rPr>
              <a:t>Madison Pitch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65505" y="3769360"/>
            <a:ext cx="3989544" cy="88978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865505" y="3769360"/>
            <a:ext cx="3989544" cy="88978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4349" y="3923738"/>
            <a:ext cx="2996434" cy="581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Darshak Kamlesh Desai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NUID: 002021808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3-d2r90upe3tpg8rchuq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2095" y="0"/>
            <a:ext cx="12461240" cy="6956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45188"/>
            <a:ext cx="7886700" cy="1150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395963"/>
            <a:ext cx="7886700" cy="111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Crisis of Misinformation in Science: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2311400"/>
            <a:ext cx="73787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Crisis of Misinformation in Science</a:t>
            </a:r>
            <a:endParaRPr lang="en-US" sz="1600" dirty="0"/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60% of preprint studies contain unverifiable or exaggerated claims.</a:t>
            </a:r>
            <a:endParaRPr lang="en-US" sz="1600" dirty="0"/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Manual validation takes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6–8 hours per paper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</a:t>
            </a:r>
            <a:endParaRPr lang="en-US" sz="1600" dirty="0"/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Investors and reviewers waste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hundreds of hours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per week reading unreliable data.</a:t>
            </a:r>
            <a:endParaRPr lang="en-US" sz="1600" dirty="0"/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Misinformation slows research funding and erodes scientific trust.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Market Pain Example: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$3.1B wasted annually in duplicate or false early-stage biotech research (Nature, 2023).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043267" y="2311400"/>
            <a:ext cx="3898900" cy="1016000"/>
          </a:xfrm>
          <a:custGeom>
            <a:avLst/>
            <a:gdLst/>
            <a:ahLst/>
            <a:cxnLst/>
            <a:rect l="l" t="t" r="r" b="b"/>
            <a:pathLst>
              <a:path w="3898900" h="1016000">
                <a:moveTo>
                  <a:pt x="101600" y="0"/>
                </a:moveTo>
                <a:lnTo>
                  <a:pt x="3797300" y="0"/>
                </a:lnTo>
                <a:cubicBezTo>
                  <a:pt x="3853375" y="0"/>
                  <a:pt x="3898900" y="45525"/>
                  <a:pt x="3898900" y="101600"/>
                </a:cubicBezTo>
                <a:lnTo>
                  <a:pt x="3898900" y="914400"/>
                </a:lnTo>
                <a:cubicBezTo>
                  <a:pt x="3898900" y="970475"/>
                  <a:pt x="3853375" y="1016000"/>
                  <a:pt x="37973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79817" y="259715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8575" y="0"/>
                </a:moveTo>
                <a:cubicBezTo>
                  <a:pt x="12769" y="0"/>
                  <a:pt x="0" y="12769"/>
                  <a:pt x="0" y="28575"/>
                </a:cubicBezTo>
                <a:cubicBezTo>
                  <a:pt x="0" y="44381"/>
                  <a:pt x="12769" y="57150"/>
                  <a:pt x="28575" y="57150"/>
                </a:cubicBezTo>
                <a:lnTo>
                  <a:pt x="28575" y="66973"/>
                </a:lnTo>
                <a:cubicBezTo>
                  <a:pt x="28575" y="104835"/>
                  <a:pt x="43666" y="141178"/>
                  <a:pt x="70455" y="167967"/>
                </a:cubicBezTo>
                <a:lnTo>
                  <a:pt x="131088" y="228600"/>
                </a:lnTo>
                <a:lnTo>
                  <a:pt x="70455" y="289233"/>
                </a:lnTo>
                <a:cubicBezTo>
                  <a:pt x="43666" y="316022"/>
                  <a:pt x="28575" y="352365"/>
                  <a:pt x="28575" y="390227"/>
                </a:cubicBezTo>
                <a:lnTo>
                  <a:pt x="28575" y="400050"/>
                </a:lnTo>
                <a:cubicBezTo>
                  <a:pt x="12769" y="400050"/>
                  <a:pt x="0" y="412819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314325" y="457200"/>
                </a:lnTo>
                <a:cubicBezTo>
                  <a:pt x="330131" y="457200"/>
                  <a:pt x="342900" y="444431"/>
                  <a:pt x="342900" y="428625"/>
                </a:cubicBezTo>
                <a:cubicBezTo>
                  <a:pt x="342900" y="412819"/>
                  <a:pt x="330131" y="400050"/>
                  <a:pt x="314325" y="400050"/>
                </a:cubicBezTo>
                <a:lnTo>
                  <a:pt x="314325" y="390227"/>
                </a:lnTo>
                <a:cubicBezTo>
                  <a:pt x="314325" y="352365"/>
                  <a:pt x="299234" y="316022"/>
                  <a:pt x="272445" y="289233"/>
                </a:cubicBezTo>
                <a:lnTo>
                  <a:pt x="211812" y="228600"/>
                </a:lnTo>
                <a:lnTo>
                  <a:pt x="272445" y="167967"/>
                </a:lnTo>
                <a:cubicBezTo>
                  <a:pt x="299234" y="141178"/>
                  <a:pt x="314325" y="104835"/>
                  <a:pt x="314325" y="66973"/>
                </a:cubicBezTo>
                <a:lnTo>
                  <a:pt x="314325" y="57150"/>
                </a:lnTo>
                <a:cubicBezTo>
                  <a:pt x="330131" y="57150"/>
                  <a:pt x="342900" y="44381"/>
                  <a:pt x="342900" y="28575"/>
                </a:cubicBezTo>
                <a:cubicBezTo>
                  <a:pt x="342900" y="12769"/>
                  <a:pt x="330131" y="0"/>
                  <a:pt x="314325" y="0"/>
                </a:cubicBezTo>
                <a:lnTo>
                  <a:pt x="28575" y="0"/>
                </a:lnTo>
                <a:close/>
                <a:moveTo>
                  <a:pt x="85725" y="66973"/>
                </a:moveTo>
                <a:lnTo>
                  <a:pt x="85725" y="57150"/>
                </a:lnTo>
                <a:lnTo>
                  <a:pt x="257175" y="57150"/>
                </a:lnTo>
                <a:lnTo>
                  <a:pt x="257175" y="66973"/>
                </a:lnTo>
                <a:cubicBezTo>
                  <a:pt x="257175" y="83939"/>
                  <a:pt x="252174" y="100370"/>
                  <a:pt x="242888" y="114300"/>
                </a:cubicBezTo>
                <a:lnTo>
                  <a:pt x="100013" y="114300"/>
                </a:lnTo>
                <a:cubicBezTo>
                  <a:pt x="90815" y="100370"/>
                  <a:pt x="85725" y="83939"/>
                  <a:pt x="85725" y="66973"/>
                </a:cubicBezTo>
                <a:close/>
                <a:moveTo>
                  <a:pt x="100013" y="342900"/>
                </a:moveTo>
                <a:cubicBezTo>
                  <a:pt x="103138" y="338167"/>
                  <a:pt x="106799" y="333702"/>
                  <a:pt x="110817" y="329595"/>
                </a:cubicBezTo>
                <a:lnTo>
                  <a:pt x="171450" y="268962"/>
                </a:lnTo>
                <a:lnTo>
                  <a:pt x="232083" y="329595"/>
                </a:lnTo>
                <a:cubicBezTo>
                  <a:pt x="236190" y="333702"/>
                  <a:pt x="239762" y="338167"/>
                  <a:pt x="242977" y="342900"/>
                </a:cubicBezTo>
                <a:lnTo>
                  <a:pt x="100013" y="342900"/>
                </a:ln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8" name="Text 5"/>
          <p:cNvSpPr/>
          <p:nvPr/>
        </p:nvSpPr>
        <p:spPr>
          <a:xfrm>
            <a:off x="9008467" y="2514600"/>
            <a:ext cx="2959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6–8 Hours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008467" y="2921000"/>
            <a:ext cx="295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Manual verification time per paper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3267" y="3530600"/>
            <a:ext cx="3898900" cy="1016000"/>
          </a:xfrm>
          <a:custGeom>
            <a:avLst/>
            <a:gdLst/>
            <a:ahLst/>
            <a:cxnLst/>
            <a:rect l="l" t="t" r="r" b="b"/>
            <a:pathLst>
              <a:path w="3898900" h="1016000">
                <a:moveTo>
                  <a:pt x="101600" y="0"/>
                </a:moveTo>
                <a:lnTo>
                  <a:pt x="3797300" y="0"/>
                </a:lnTo>
                <a:cubicBezTo>
                  <a:pt x="3853375" y="0"/>
                  <a:pt x="3898900" y="45525"/>
                  <a:pt x="3898900" y="101600"/>
                </a:cubicBezTo>
                <a:lnTo>
                  <a:pt x="3898900" y="914400"/>
                </a:lnTo>
                <a:cubicBezTo>
                  <a:pt x="3898900" y="970475"/>
                  <a:pt x="3853375" y="1016000"/>
                  <a:pt x="37973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08392" y="381635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21444" y="21431"/>
                </a:moveTo>
                <a:cubicBezTo>
                  <a:pt x="121444" y="9555"/>
                  <a:pt x="130999" y="0"/>
                  <a:pt x="142875" y="0"/>
                </a:cubicBezTo>
                <a:cubicBezTo>
                  <a:pt x="154751" y="0"/>
                  <a:pt x="164306" y="9555"/>
                  <a:pt x="164306" y="21431"/>
                </a:cubicBezTo>
                <a:lnTo>
                  <a:pt x="164306" y="57150"/>
                </a:lnTo>
                <a:lnTo>
                  <a:pt x="214313" y="57150"/>
                </a:lnTo>
                <a:cubicBezTo>
                  <a:pt x="230118" y="57150"/>
                  <a:pt x="242888" y="69919"/>
                  <a:pt x="242888" y="85725"/>
                </a:cubicBezTo>
                <a:cubicBezTo>
                  <a:pt x="242888" y="101531"/>
                  <a:pt x="230118" y="114300"/>
                  <a:pt x="214313" y="114300"/>
                </a:cubicBezTo>
                <a:lnTo>
                  <a:pt x="111710" y="114300"/>
                </a:lnTo>
                <a:cubicBezTo>
                  <a:pt x="89475" y="114300"/>
                  <a:pt x="71438" y="132338"/>
                  <a:pt x="71438" y="154573"/>
                </a:cubicBezTo>
                <a:cubicBezTo>
                  <a:pt x="71438" y="174665"/>
                  <a:pt x="86171" y="191631"/>
                  <a:pt x="105995" y="194489"/>
                </a:cubicBezTo>
                <a:lnTo>
                  <a:pt x="187791" y="206186"/>
                </a:lnTo>
                <a:cubicBezTo>
                  <a:pt x="235833" y="213062"/>
                  <a:pt x="271463" y="254139"/>
                  <a:pt x="271463" y="302627"/>
                </a:cubicBezTo>
                <a:cubicBezTo>
                  <a:pt x="271463" y="356473"/>
                  <a:pt x="227796" y="400050"/>
                  <a:pt x="174040" y="400050"/>
                </a:cubicBezTo>
                <a:lnTo>
                  <a:pt x="164306" y="400050"/>
                </a:lnTo>
                <a:lnTo>
                  <a:pt x="164306" y="435769"/>
                </a:lnTo>
                <a:cubicBezTo>
                  <a:pt x="164306" y="447645"/>
                  <a:pt x="154751" y="457200"/>
                  <a:pt x="142875" y="457200"/>
                </a:cubicBezTo>
                <a:cubicBezTo>
                  <a:pt x="130999" y="457200"/>
                  <a:pt x="121444" y="447645"/>
                  <a:pt x="121444" y="435769"/>
                </a:cubicBezTo>
                <a:lnTo>
                  <a:pt x="121444" y="400050"/>
                </a:lnTo>
                <a:lnTo>
                  <a:pt x="57150" y="400050"/>
                </a:lnTo>
                <a:cubicBezTo>
                  <a:pt x="41344" y="400050"/>
                  <a:pt x="28575" y="387281"/>
                  <a:pt x="28575" y="371475"/>
                </a:cubicBezTo>
                <a:cubicBezTo>
                  <a:pt x="28575" y="355669"/>
                  <a:pt x="41344" y="342900"/>
                  <a:pt x="57150" y="342900"/>
                </a:cubicBezTo>
                <a:lnTo>
                  <a:pt x="174040" y="342900"/>
                </a:lnTo>
                <a:cubicBezTo>
                  <a:pt x="196275" y="342900"/>
                  <a:pt x="214313" y="324862"/>
                  <a:pt x="214313" y="302627"/>
                </a:cubicBezTo>
                <a:cubicBezTo>
                  <a:pt x="214313" y="282535"/>
                  <a:pt x="199579" y="265569"/>
                  <a:pt x="179755" y="262711"/>
                </a:cubicBezTo>
                <a:lnTo>
                  <a:pt x="97959" y="251014"/>
                </a:lnTo>
                <a:cubicBezTo>
                  <a:pt x="49917" y="244227"/>
                  <a:pt x="14288" y="203061"/>
                  <a:pt x="14288" y="154573"/>
                </a:cubicBezTo>
                <a:cubicBezTo>
                  <a:pt x="14288" y="100816"/>
                  <a:pt x="57954" y="57150"/>
                  <a:pt x="111710" y="57150"/>
                </a:cubicBezTo>
                <a:lnTo>
                  <a:pt x="121444" y="57150"/>
                </a:lnTo>
                <a:lnTo>
                  <a:pt x="121444" y="21431"/>
                </a:lnTo>
                <a:close/>
              </a:path>
            </a:pathLst>
          </a:custGeom>
          <a:solidFill>
            <a:srgbClr val="42A5F5"/>
          </a:solidFill>
          <a:ln/>
        </p:spPr>
      </p:sp>
      <p:sp>
        <p:nvSpPr>
          <p:cNvPr id="12" name="Text 9"/>
          <p:cNvSpPr/>
          <p:nvPr/>
        </p:nvSpPr>
        <p:spPr>
          <a:xfrm>
            <a:off x="9008467" y="3733800"/>
            <a:ext cx="297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2A5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$3.1B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008467" y="4140200"/>
            <a:ext cx="297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Wasted annually on false research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3-d2r90upe3tpg8rchuq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461240" cy="6956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1755" y="270329"/>
            <a:ext cx="5537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354605"/>
            <a:ext cx="6045200" cy="90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Instant Claim Verification with AI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2049958"/>
            <a:ext cx="7192273" cy="238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BioClaim Guard uses large language models to:</a:t>
            </a:r>
            <a:endParaRPr lang="en-US" sz="1600" dirty="0"/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Extract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claims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from text or reports.</a:t>
            </a:r>
            <a:endParaRPr lang="en-US" sz="1600" dirty="0"/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Retrieve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supporting papers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from sources like PubMed.</a:t>
            </a:r>
            <a:endParaRPr lang="en-US" sz="1600" dirty="0"/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Score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claim credibility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with explainable AI reasoning.</a:t>
            </a:r>
            <a:endParaRPr lang="en-US" sz="1600" dirty="0"/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Output a CSV or PDF with risk labels (“Supported,” “Overclaimed,” “Unsupported”).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⏱️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Time Saved: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8 hours →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minutes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per paper.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4432300"/>
            <a:ext cx="5537200" cy="1066800"/>
          </a:xfrm>
          <a:custGeom>
            <a:avLst/>
            <a:gdLst/>
            <a:ahLst/>
            <a:cxnLst/>
            <a:rect l="l" t="t" r="r" b="b"/>
            <a:pathLst>
              <a:path w="5537200" h="1066800">
                <a:moveTo>
                  <a:pt x="101602" y="0"/>
                </a:moveTo>
                <a:lnTo>
                  <a:pt x="5435598" y="0"/>
                </a:lnTo>
                <a:cubicBezTo>
                  <a:pt x="5491711" y="0"/>
                  <a:pt x="5537200" y="45489"/>
                  <a:pt x="5537200" y="101602"/>
                </a:cubicBezTo>
                <a:lnTo>
                  <a:pt x="5537200" y="965198"/>
                </a:lnTo>
                <a:cubicBezTo>
                  <a:pt x="5537200" y="1021311"/>
                  <a:pt x="5491711" y="1066800"/>
                  <a:pt x="54355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B1CEEB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4635500"/>
            <a:ext cx="563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7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8 hours to 2 minutes.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991100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2A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drops from $50 to just $0.02 per paper.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811966" y="5308600"/>
            <a:ext cx="0" cy="863600"/>
          </a:xfrm>
          <a:prstGeom prst="line">
            <a:avLst/>
          </a:prstGeom>
          <a:noFill/>
          <a:ln w="50800">
            <a:solidFill>
              <a:srgbClr val="007BFF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10811966" y="5308600"/>
            <a:ext cx="1282700" cy="863600"/>
          </a:xfrm>
          <a:custGeom>
            <a:avLst/>
            <a:gdLst/>
            <a:ahLst/>
            <a:cxnLst/>
            <a:rect l="l" t="t" r="r" b="b"/>
            <a:pathLst>
              <a:path w="1282700" h="863600">
                <a:moveTo>
                  <a:pt x="0" y="0"/>
                </a:moveTo>
                <a:lnTo>
                  <a:pt x="1181097" y="0"/>
                </a:lnTo>
                <a:cubicBezTo>
                  <a:pt x="1237211" y="0"/>
                  <a:pt x="1282700" y="45489"/>
                  <a:pt x="1282700" y="101603"/>
                </a:cubicBezTo>
                <a:lnTo>
                  <a:pt x="1282700" y="761997"/>
                </a:lnTo>
                <a:cubicBezTo>
                  <a:pt x="1282700" y="818111"/>
                  <a:pt x="1237211" y="863600"/>
                  <a:pt x="1181097" y="863600"/>
                </a:cubicBez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317500" dist="254000" dir="5400000">
              <a:srgbClr val="000000">
                <a:alpha val="10196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015166" y="54610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7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min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015166" y="5816600"/>
            <a:ext cx="1485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 validation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3-d2r90upe3tpg8rchuq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2095" y="0"/>
            <a:ext cx="12461240" cy="6956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8585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Dual-Brain AI Architecture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169545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transparent, explainable system built on n8n automation and GPT-4 reasoning.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3533" y="2406650"/>
            <a:ext cx="4864100" cy="2654300"/>
          </a:xfrm>
          <a:custGeom>
            <a:avLst/>
            <a:gdLst/>
            <a:ahLst/>
            <a:cxnLst/>
            <a:rect l="l" t="t" r="r" b="b"/>
            <a:pathLst>
              <a:path w="4864100" h="2654300">
                <a:moveTo>
                  <a:pt x="152410" y="0"/>
                </a:moveTo>
                <a:lnTo>
                  <a:pt x="4711690" y="0"/>
                </a:lnTo>
                <a:cubicBezTo>
                  <a:pt x="4795864" y="0"/>
                  <a:pt x="4864100" y="68236"/>
                  <a:pt x="4864100" y="152410"/>
                </a:cubicBezTo>
                <a:lnTo>
                  <a:pt x="4864100" y="2501890"/>
                </a:lnTo>
                <a:cubicBezTo>
                  <a:pt x="4864100" y="2586064"/>
                  <a:pt x="4795864" y="2654300"/>
                  <a:pt x="4711690" y="2654300"/>
                </a:cubicBezTo>
                <a:lnTo>
                  <a:pt x="152410" y="2654300"/>
                </a:lnTo>
                <a:cubicBezTo>
                  <a:pt x="68236" y="2654300"/>
                  <a:pt x="0" y="2586064"/>
                  <a:pt x="0" y="25018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72866" y="2724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247650" y="419100"/>
                </a:moveTo>
                <a:cubicBezTo>
                  <a:pt x="342276" y="419100"/>
                  <a:pt x="419100" y="342276"/>
                  <a:pt x="419100" y="247650"/>
                </a:cubicBezTo>
                <a:cubicBezTo>
                  <a:pt x="419100" y="153024"/>
                  <a:pt x="342276" y="76200"/>
                  <a:pt x="247650" y="76200"/>
                </a:cubicBezTo>
                <a:cubicBezTo>
                  <a:pt x="153024" y="76200"/>
                  <a:pt x="76200" y="153024"/>
                  <a:pt x="76200" y="247650"/>
                </a:cubicBezTo>
                <a:cubicBezTo>
                  <a:pt x="76200" y="342276"/>
                  <a:pt x="153024" y="419100"/>
                  <a:pt x="247650" y="419100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7" name="Text 4"/>
          <p:cNvSpPr/>
          <p:nvPr/>
        </p:nvSpPr>
        <p:spPr>
          <a:xfrm>
            <a:off x="694333" y="3486150"/>
            <a:ext cx="476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Evidence Scorer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48333" y="3943350"/>
            <a:ext cx="425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Fetches the 3-5 most relevant papers from sources like PubMed.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48333" y="455295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Output: 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282"/>
                </a:solidFill>
                <a:highlight>
                  <a:srgbClr val="B1CE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evidence_score 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91200" y="307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8408" y="331708"/>
                </a:moveTo>
                <a:cubicBezTo>
                  <a:pt x="613291" y="316825"/>
                  <a:pt x="613291" y="292656"/>
                  <a:pt x="598408" y="277773"/>
                </a:cubicBezTo>
                <a:lnTo>
                  <a:pt x="407908" y="87273"/>
                </a:lnTo>
                <a:cubicBezTo>
                  <a:pt x="393025" y="72390"/>
                  <a:pt x="368856" y="72390"/>
                  <a:pt x="353973" y="87273"/>
                </a:cubicBezTo>
                <a:cubicBezTo>
                  <a:pt x="339090" y="102156"/>
                  <a:pt x="339090" y="126325"/>
                  <a:pt x="353973" y="141208"/>
                </a:cubicBezTo>
                <a:lnTo>
                  <a:pt x="4794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479465" y="342900"/>
                </a:lnTo>
                <a:lnTo>
                  <a:pt x="353973" y="468392"/>
                </a:lnTo>
                <a:cubicBezTo>
                  <a:pt x="339090" y="483275"/>
                  <a:pt x="339090" y="507444"/>
                  <a:pt x="353973" y="522327"/>
                </a:cubicBezTo>
                <a:cubicBezTo>
                  <a:pt x="368856" y="537210"/>
                  <a:pt x="393025" y="537210"/>
                  <a:pt x="407908" y="522327"/>
                </a:cubicBezTo>
                <a:lnTo>
                  <a:pt x="598408" y="331827"/>
                </a:lnTo>
                <a:close/>
              </a:path>
            </a:pathLst>
          </a:custGeom>
          <a:solidFill>
            <a:srgbClr val="42A5F5"/>
          </a:solidFill>
          <a:ln/>
        </p:spPr>
      </p:sp>
      <p:sp>
        <p:nvSpPr>
          <p:cNvPr id="11" name="Shape 8"/>
          <p:cNvSpPr/>
          <p:nvPr/>
        </p:nvSpPr>
        <p:spPr>
          <a:xfrm>
            <a:off x="5791200" y="378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192" y="277892"/>
                </a:moveTo>
                <a:cubicBezTo>
                  <a:pt x="-3691" y="292775"/>
                  <a:pt x="-3691" y="316944"/>
                  <a:pt x="11192" y="331827"/>
                </a:cubicBezTo>
                <a:lnTo>
                  <a:pt x="201692" y="522327"/>
                </a:lnTo>
                <a:cubicBezTo>
                  <a:pt x="216575" y="537210"/>
                  <a:pt x="240744" y="537210"/>
                  <a:pt x="255627" y="522327"/>
                </a:cubicBezTo>
                <a:cubicBezTo>
                  <a:pt x="270510" y="507444"/>
                  <a:pt x="270510" y="483275"/>
                  <a:pt x="255627" y="468392"/>
                </a:cubicBezTo>
                <a:lnTo>
                  <a:pt x="130135" y="342900"/>
                </a:lnTo>
                <a:lnTo>
                  <a:pt x="571500" y="342900"/>
                </a:lnTo>
                <a:cubicBezTo>
                  <a:pt x="592574" y="342900"/>
                  <a:pt x="609600" y="325874"/>
                  <a:pt x="609600" y="304800"/>
                </a:cubicBezTo>
                <a:cubicBezTo>
                  <a:pt x="609600" y="283726"/>
                  <a:pt x="592574" y="266700"/>
                  <a:pt x="571500" y="266700"/>
                </a:cubicBezTo>
                <a:lnTo>
                  <a:pt x="130135" y="266700"/>
                </a:lnTo>
                <a:lnTo>
                  <a:pt x="255627" y="141208"/>
                </a:lnTo>
                <a:cubicBezTo>
                  <a:pt x="270510" y="126325"/>
                  <a:pt x="270510" y="102156"/>
                  <a:pt x="255627" y="87273"/>
                </a:cubicBezTo>
                <a:cubicBezTo>
                  <a:pt x="240744" y="72390"/>
                  <a:pt x="216575" y="72390"/>
                  <a:pt x="201692" y="87273"/>
                </a:cubicBezTo>
                <a:lnTo>
                  <a:pt x="11192" y="277773"/>
                </a:lnTo>
                <a:close/>
              </a:path>
            </a:pathLst>
          </a:custGeom>
          <a:solidFill>
            <a:srgbClr val="42A5F5"/>
          </a:solidFill>
          <a:ln/>
        </p:spPr>
      </p:sp>
      <p:sp>
        <p:nvSpPr>
          <p:cNvPr id="12" name="Shape 9"/>
          <p:cNvSpPr/>
          <p:nvPr/>
        </p:nvSpPr>
        <p:spPr>
          <a:xfrm>
            <a:off x="6680200" y="2406650"/>
            <a:ext cx="4864100" cy="2654300"/>
          </a:xfrm>
          <a:custGeom>
            <a:avLst/>
            <a:gdLst/>
            <a:ahLst/>
            <a:cxnLst/>
            <a:rect l="l" t="t" r="r" b="b"/>
            <a:pathLst>
              <a:path w="4864100" h="2654300">
                <a:moveTo>
                  <a:pt x="152410" y="0"/>
                </a:moveTo>
                <a:lnTo>
                  <a:pt x="4711690" y="0"/>
                </a:lnTo>
                <a:cubicBezTo>
                  <a:pt x="4795864" y="0"/>
                  <a:pt x="4864100" y="68236"/>
                  <a:pt x="4864100" y="152410"/>
                </a:cubicBezTo>
                <a:lnTo>
                  <a:pt x="4864100" y="2501890"/>
                </a:lnTo>
                <a:cubicBezTo>
                  <a:pt x="4864100" y="2586064"/>
                  <a:pt x="4795864" y="2654300"/>
                  <a:pt x="4711690" y="2654300"/>
                </a:cubicBezTo>
                <a:lnTo>
                  <a:pt x="152410" y="2654300"/>
                </a:lnTo>
                <a:cubicBezTo>
                  <a:pt x="68236" y="2654300"/>
                  <a:pt x="0" y="2586064"/>
                  <a:pt x="0" y="25018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733334" y="272415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57200" y="38100"/>
                </a:moveTo>
                <a:lnTo>
                  <a:pt x="609600" y="38100"/>
                </a:lnTo>
                <a:cubicBezTo>
                  <a:pt x="630674" y="38100"/>
                  <a:pt x="647700" y="55126"/>
                  <a:pt x="647700" y="76200"/>
                </a:cubicBezTo>
                <a:cubicBezTo>
                  <a:pt x="647700" y="97274"/>
                  <a:pt x="630674" y="114300"/>
                  <a:pt x="609600" y="114300"/>
                </a:cubicBezTo>
                <a:lnTo>
                  <a:pt x="474345" y="114300"/>
                </a:lnTo>
                <a:cubicBezTo>
                  <a:pt x="468154" y="145018"/>
                  <a:pt x="447080" y="170378"/>
                  <a:pt x="419100" y="182523"/>
                </a:cubicBezTo>
                <a:lnTo>
                  <a:pt x="419100" y="533400"/>
                </a:lnTo>
                <a:lnTo>
                  <a:pt x="609600" y="533400"/>
                </a:lnTo>
                <a:cubicBezTo>
                  <a:pt x="630674" y="533400"/>
                  <a:pt x="647700" y="550426"/>
                  <a:pt x="647700" y="571500"/>
                </a:cubicBezTo>
                <a:cubicBezTo>
                  <a:pt x="647700" y="592574"/>
                  <a:pt x="630674" y="609600"/>
                  <a:pt x="609600" y="609600"/>
                </a:cubicBezTo>
                <a:lnTo>
                  <a:pt x="152400" y="609600"/>
                </a:lnTo>
                <a:cubicBezTo>
                  <a:pt x="131326" y="609600"/>
                  <a:pt x="114300" y="592574"/>
                  <a:pt x="114300" y="571500"/>
                </a:cubicBezTo>
                <a:cubicBezTo>
                  <a:pt x="114300" y="550426"/>
                  <a:pt x="131326" y="533400"/>
                  <a:pt x="152400" y="533400"/>
                </a:cubicBezTo>
                <a:lnTo>
                  <a:pt x="342900" y="533400"/>
                </a:lnTo>
                <a:lnTo>
                  <a:pt x="342900" y="182523"/>
                </a:lnTo>
                <a:cubicBezTo>
                  <a:pt x="314920" y="170259"/>
                  <a:pt x="293846" y="144899"/>
                  <a:pt x="287655" y="114300"/>
                </a:cubicBezTo>
                <a:lnTo>
                  <a:pt x="152400" y="114300"/>
                </a:lnTo>
                <a:cubicBezTo>
                  <a:pt x="131326" y="114300"/>
                  <a:pt x="114300" y="97274"/>
                  <a:pt x="114300" y="76200"/>
                </a:cubicBezTo>
                <a:cubicBezTo>
                  <a:pt x="114300" y="55126"/>
                  <a:pt x="131326" y="38100"/>
                  <a:pt x="152400" y="38100"/>
                </a:cubicBezTo>
                <a:lnTo>
                  <a:pt x="304800" y="38100"/>
                </a:lnTo>
                <a:cubicBezTo>
                  <a:pt x="322183" y="15002"/>
                  <a:pt x="349806" y="0"/>
                  <a:pt x="381000" y="0"/>
                </a:cubicBezTo>
                <a:cubicBezTo>
                  <a:pt x="412194" y="0"/>
                  <a:pt x="439817" y="15002"/>
                  <a:pt x="457200" y="38100"/>
                </a:cubicBezTo>
                <a:close/>
                <a:moveTo>
                  <a:pt x="523399" y="381000"/>
                </a:moveTo>
                <a:lnTo>
                  <a:pt x="695801" y="381000"/>
                </a:lnTo>
                <a:lnTo>
                  <a:pt x="609600" y="233124"/>
                </a:lnTo>
                <a:lnTo>
                  <a:pt x="523399" y="381000"/>
                </a:lnTo>
                <a:close/>
                <a:moveTo>
                  <a:pt x="609600" y="495300"/>
                </a:moveTo>
                <a:cubicBezTo>
                  <a:pt x="534710" y="495300"/>
                  <a:pt x="472440" y="454819"/>
                  <a:pt x="459581" y="401360"/>
                </a:cubicBezTo>
                <a:cubicBezTo>
                  <a:pt x="456486" y="388263"/>
                  <a:pt x="460772" y="374809"/>
                  <a:pt x="467558" y="363141"/>
                </a:cubicBezTo>
                <a:lnTo>
                  <a:pt x="580906" y="168831"/>
                </a:lnTo>
                <a:cubicBezTo>
                  <a:pt x="586859" y="158591"/>
                  <a:pt x="597813" y="152400"/>
                  <a:pt x="609600" y="152400"/>
                </a:cubicBezTo>
                <a:cubicBezTo>
                  <a:pt x="621387" y="152400"/>
                  <a:pt x="632341" y="158710"/>
                  <a:pt x="638294" y="168831"/>
                </a:cubicBezTo>
                <a:lnTo>
                  <a:pt x="751642" y="363141"/>
                </a:lnTo>
                <a:cubicBezTo>
                  <a:pt x="758428" y="374809"/>
                  <a:pt x="762714" y="388263"/>
                  <a:pt x="759619" y="401360"/>
                </a:cubicBezTo>
                <a:cubicBezTo>
                  <a:pt x="746760" y="454700"/>
                  <a:pt x="684490" y="495300"/>
                  <a:pt x="609600" y="495300"/>
                </a:cubicBezTo>
                <a:close/>
                <a:moveTo>
                  <a:pt x="150971" y="233124"/>
                </a:moveTo>
                <a:lnTo>
                  <a:pt x="64770" y="381000"/>
                </a:lnTo>
                <a:lnTo>
                  <a:pt x="237292" y="381000"/>
                </a:lnTo>
                <a:lnTo>
                  <a:pt x="150971" y="233124"/>
                </a:lnTo>
                <a:close/>
                <a:moveTo>
                  <a:pt x="1072" y="401360"/>
                </a:moveTo>
                <a:cubicBezTo>
                  <a:pt x="-2024" y="388263"/>
                  <a:pt x="2262" y="374809"/>
                  <a:pt x="9049" y="363141"/>
                </a:cubicBezTo>
                <a:lnTo>
                  <a:pt x="122396" y="168831"/>
                </a:lnTo>
                <a:cubicBezTo>
                  <a:pt x="128349" y="158591"/>
                  <a:pt x="139303" y="152400"/>
                  <a:pt x="151090" y="152400"/>
                </a:cubicBezTo>
                <a:cubicBezTo>
                  <a:pt x="162878" y="152400"/>
                  <a:pt x="173831" y="158710"/>
                  <a:pt x="179784" y="168831"/>
                </a:cubicBezTo>
                <a:lnTo>
                  <a:pt x="293132" y="363141"/>
                </a:lnTo>
                <a:cubicBezTo>
                  <a:pt x="299918" y="374809"/>
                  <a:pt x="304205" y="388263"/>
                  <a:pt x="301109" y="401360"/>
                </a:cubicBezTo>
                <a:cubicBezTo>
                  <a:pt x="288250" y="454700"/>
                  <a:pt x="225981" y="495300"/>
                  <a:pt x="151090" y="495300"/>
                </a:cubicBezTo>
                <a:cubicBezTo>
                  <a:pt x="76200" y="495300"/>
                  <a:pt x="13930" y="454819"/>
                  <a:pt x="1072" y="401360"/>
                </a:cubicBezTo>
                <a:close/>
              </a:path>
            </a:pathLst>
          </a:custGeom>
          <a:solidFill>
            <a:srgbClr val="42A5F5"/>
          </a:solidFill>
          <a:ln/>
        </p:spPr>
      </p:sp>
      <p:sp>
        <p:nvSpPr>
          <p:cNvPr id="14" name="Text 11"/>
          <p:cNvSpPr/>
          <p:nvPr/>
        </p:nvSpPr>
        <p:spPr>
          <a:xfrm>
            <a:off x="6731000" y="3486150"/>
            <a:ext cx="476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2A5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 Classifier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85000" y="3943350"/>
            <a:ext cx="425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Evaluates claim tone, context, and confidence to assign a risk label.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85000" y="455295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Output: 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282"/>
                </a:solidFill>
                <a:highlight>
                  <a:srgbClr val="B1CE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risk_label 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0" y="546735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7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Learns from user feedback — accuracy improves weekly.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68209" y="141105"/>
            <a:ext cx="4332070" cy="5732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Magic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3-d2r90upe3tpg8rchuq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2095" y="0"/>
            <a:ext cx="12461240" cy="6956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83058"/>
            <a:ext cx="5435600" cy="971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222903"/>
            <a:ext cx="5943600" cy="82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2A5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Export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2046662"/>
            <a:ext cx="8157029" cy="1692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Upload a PDF, wait 120 seconds, and download a CSV or PDF risk map. Integration plugins for Google Docs and Notion insert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07BFF"/>
                </a:solidFill>
                <a:highlight>
                  <a:srgbClr val="B1CE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color-coded flags while you write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turning peer review into a live spell-check for scientific truth. 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4876800"/>
            <a:ext cx="1778000" cy="609600"/>
          </a:xfrm>
          <a:custGeom>
            <a:avLst/>
            <a:gdLst/>
            <a:ahLst/>
            <a:cxnLst/>
            <a:rect l="l" t="t" r="r" b="b"/>
            <a:pathLst>
              <a:path w="1778000" h="609600">
                <a:moveTo>
                  <a:pt x="101602" y="0"/>
                </a:moveTo>
                <a:lnTo>
                  <a:pt x="1676398" y="0"/>
                </a:lnTo>
                <a:cubicBezTo>
                  <a:pt x="1732511" y="0"/>
                  <a:pt x="1778000" y="45489"/>
                  <a:pt x="1778000" y="101602"/>
                </a:cubicBezTo>
                <a:lnTo>
                  <a:pt x="1778000" y="507998"/>
                </a:lnTo>
                <a:cubicBezTo>
                  <a:pt x="1778000" y="564111"/>
                  <a:pt x="1732511" y="609600"/>
                  <a:pt x="1676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38100" dist="12700" dir="540000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74650" y="503555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150" y="0"/>
                </a:moveTo>
                <a:cubicBezTo>
                  <a:pt x="36135" y="0"/>
                  <a:pt x="19050" y="17085"/>
                  <a:pt x="19050" y="38100"/>
                </a:cubicBezTo>
                <a:lnTo>
                  <a:pt x="19050" y="266700"/>
                </a:lnTo>
                <a:cubicBezTo>
                  <a:pt x="19050" y="287715"/>
                  <a:pt x="36135" y="304800"/>
                  <a:pt x="57150" y="304800"/>
                </a:cubicBezTo>
                <a:lnTo>
                  <a:pt x="104775" y="304800"/>
                </a:lnTo>
                <a:lnTo>
                  <a:pt x="104775" y="238125"/>
                </a:lnTo>
                <a:cubicBezTo>
                  <a:pt x="104775" y="217110"/>
                  <a:pt x="121860" y="200025"/>
                  <a:pt x="142875" y="200025"/>
                </a:cubicBezTo>
                <a:lnTo>
                  <a:pt x="247650" y="200025"/>
                </a:lnTo>
                <a:lnTo>
                  <a:pt x="247650" y="101501"/>
                </a:lnTo>
                <a:cubicBezTo>
                  <a:pt x="247650" y="91380"/>
                  <a:pt x="243661" y="81677"/>
                  <a:pt x="236518" y="74533"/>
                </a:cubicBezTo>
                <a:lnTo>
                  <a:pt x="173057" y="11132"/>
                </a:lnTo>
                <a:cubicBezTo>
                  <a:pt x="165914" y="3989"/>
                  <a:pt x="156270" y="0"/>
                  <a:pt x="146149" y="0"/>
                </a:cubicBezTo>
                <a:lnTo>
                  <a:pt x="57150" y="0"/>
                </a:lnTo>
                <a:close/>
                <a:moveTo>
                  <a:pt x="212824" y="104775"/>
                </a:moveTo>
                <a:lnTo>
                  <a:pt x="157163" y="104775"/>
                </a:lnTo>
                <a:cubicBezTo>
                  <a:pt x="149245" y="104775"/>
                  <a:pt x="142875" y="98405"/>
                  <a:pt x="142875" y="90488"/>
                </a:cubicBezTo>
                <a:lnTo>
                  <a:pt x="142875" y="34826"/>
                </a:lnTo>
                <a:lnTo>
                  <a:pt x="212824" y="104775"/>
                </a:lnTo>
                <a:close/>
                <a:moveTo>
                  <a:pt x="142875" y="226219"/>
                </a:moveTo>
                <a:cubicBezTo>
                  <a:pt x="136327" y="226219"/>
                  <a:pt x="130969" y="231577"/>
                  <a:pt x="130969" y="238125"/>
                </a:cubicBezTo>
                <a:lnTo>
                  <a:pt x="130969" y="314325"/>
                </a:lnTo>
                <a:cubicBezTo>
                  <a:pt x="130969" y="320873"/>
                  <a:pt x="136327" y="326231"/>
                  <a:pt x="142875" y="326231"/>
                </a:cubicBezTo>
                <a:cubicBezTo>
                  <a:pt x="149423" y="326231"/>
                  <a:pt x="154781" y="320873"/>
                  <a:pt x="154781" y="314325"/>
                </a:cubicBezTo>
                <a:lnTo>
                  <a:pt x="154781" y="297656"/>
                </a:lnTo>
                <a:lnTo>
                  <a:pt x="161925" y="297656"/>
                </a:lnTo>
                <a:cubicBezTo>
                  <a:pt x="181630" y="297656"/>
                  <a:pt x="197644" y="281642"/>
                  <a:pt x="197644" y="261937"/>
                </a:cubicBezTo>
                <a:cubicBezTo>
                  <a:pt x="197644" y="242233"/>
                  <a:pt x="181630" y="226219"/>
                  <a:pt x="161925" y="226219"/>
                </a:cubicBezTo>
                <a:lnTo>
                  <a:pt x="142875" y="226219"/>
                </a:lnTo>
                <a:close/>
                <a:moveTo>
                  <a:pt x="161925" y="273844"/>
                </a:moveTo>
                <a:lnTo>
                  <a:pt x="154781" y="273844"/>
                </a:lnTo>
                <a:lnTo>
                  <a:pt x="154781" y="250031"/>
                </a:lnTo>
                <a:lnTo>
                  <a:pt x="161925" y="250031"/>
                </a:lnTo>
                <a:cubicBezTo>
                  <a:pt x="168473" y="250031"/>
                  <a:pt x="173831" y="255389"/>
                  <a:pt x="173831" y="261937"/>
                </a:cubicBezTo>
                <a:cubicBezTo>
                  <a:pt x="173831" y="268486"/>
                  <a:pt x="168473" y="273844"/>
                  <a:pt x="161925" y="273844"/>
                </a:cubicBezTo>
                <a:close/>
                <a:moveTo>
                  <a:pt x="219075" y="226219"/>
                </a:moveTo>
                <a:cubicBezTo>
                  <a:pt x="212527" y="226219"/>
                  <a:pt x="207169" y="231577"/>
                  <a:pt x="207169" y="238125"/>
                </a:cubicBezTo>
                <a:lnTo>
                  <a:pt x="207169" y="314325"/>
                </a:lnTo>
                <a:cubicBezTo>
                  <a:pt x="207169" y="320873"/>
                  <a:pt x="212527" y="326231"/>
                  <a:pt x="219075" y="326231"/>
                </a:cubicBezTo>
                <a:lnTo>
                  <a:pt x="238125" y="326231"/>
                </a:lnTo>
                <a:cubicBezTo>
                  <a:pt x="255210" y="326231"/>
                  <a:pt x="269081" y="312360"/>
                  <a:pt x="269081" y="295275"/>
                </a:cubicBezTo>
                <a:lnTo>
                  <a:pt x="269081" y="257175"/>
                </a:lnTo>
                <a:cubicBezTo>
                  <a:pt x="269081" y="240090"/>
                  <a:pt x="255210" y="226219"/>
                  <a:pt x="238125" y="226219"/>
                </a:cubicBezTo>
                <a:lnTo>
                  <a:pt x="219075" y="226219"/>
                </a:lnTo>
                <a:close/>
                <a:moveTo>
                  <a:pt x="230981" y="302419"/>
                </a:moveTo>
                <a:lnTo>
                  <a:pt x="230981" y="250031"/>
                </a:lnTo>
                <a:lnTo>
                  <a:pt x="238125" y="250031"/>
                </a:lnTo>
                <a:cubicBezTo>
                  <a:pt x="242054" y="250031"/>
                  <a:pt x="245269" y="253246"/>
                  <a:pt x="245269" y="257175"/>
                </a:cubicBezTo>
                <a:lnTo>
                  <a:pt x="245269" y="295275"/>
                </a:lnTo>
                <a:cubicBezTo>
                  <a:pt x="245269" y="299204"/>
                  <a:pt x="242054" y="302419"/>
                  <a:pt x="238125" y="302419"/>
                </a:cubicBezTo>
                <a:lnTo>
                  <a:pt x="230981" y="302419"/>
                </a:lnTo>
                <a:close/>
                <a:moveTo>
                  <a:pt x="283369" y="238125"/>
                </a:moveTo>
                <a:lnTo>
                  <a:pt x="283369" y="314325"/>
                </a:lnTo>
                <a:cubicBezTo>
                  <a:pt x="283369" y="320873"/>
                  <a:pt x="288727" y="326231"/>
                  <a:pt x="295275" y="326231"/>
                </a:cubicBezTo>
                <a:cubicBezTo>
                  <a:pt x="301823" y="326231"/>
                  <a:pt x="307181" y="320873"/>
                  <a:pt x="307181" y="314325"/>
                </a:cubicBezTo>
                <a:lnTo>
                  <a:pt x="307181" y="288131"/>
                </a:lnTo>
                <a:lnTo>
                  <a:pt x="323850" y="288131"/>
                </a:lnTo>
                <a:cubicBezTo>
                  <a:pt x="330398" y="288131"/>
                  <a:pt x="335756" y="282773"/>
                  <a:pt x="335756" y="276225"/>
                </a:cubicBezTo>
                <a:cubicBezTo>
                  <a:pt x="335756" y="269677"/>
                  <a:pt x="330398" y="264319"/>
                  <a:pt x="323850" y="264319"/>
                </a:cubicBezTo>
                <a:lnTo>
                  <a:pt x="307181" y="264319"/>
                </a:lnTo>
                <a:lnTo>
                  <a:pt x="307181" y="250031"/>
                </a:lnTo>
                <a:lnTo>
                  <a:pt x="323850" y="250031"/>
                </a:lnTo>
                <a:cubicBezTo>
                  <a:pt x="330398" y="250031"/>
                  <a:pt x="335756" y="244673"/>
                  <a:pt x="335756" y="238125"/>
                </a:cubicBezTo>
                <a:cubicBezTo>
                  <a:pt x="335756" y="231577"/>
                  <a:pt x="330398" y="226219"/>
                  <a:pt x="323850" y="226219"/>
                </a:cubicBezTo>
                <a:lnTo>
                  <a:pt x="295275" y="226219"/>
                </a:lnTo>
                <a:cubicBezTo>
                  <a:pt x="288727" y="226219"/>
                  <a:pt x="283369" y="231577"/>
                  <a:pt x="283369" y="238125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8" name="Text 5"/>
          <p:cNvSpPr/>
          <p:nvPr/>
        </p:nvSpPr>
        <p:spPr>
          <a:xfrm>
            <a:off x="758527" y="502920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PDF Report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38077" y="4876800"/>
            <a:ext cx="1600200" cy="609600"/>
          </a:xfrm>
          <a:custGeom>
            <a:avLst/>
            <a:gdLst/>
            <a:ahLst/>
            <a:cxnLst/>
            <a:rect l="l" t="t" r="r" b="b"/>
            <a:pathLst>
              <a:path w="1600200" h="609600">
                <a:moveTo>
                  <a:pt x="101602" y="0"/>
                </a:moveTo>
                <a:lnTo>
                  <a:pt x="1498598" y="0"/>
                </a:lnTo>
                <a:cubicBezTo>
                  <a:pt x="1554711" y="0"/>
                  <a:pt x="1600200" y="45489"/>
                  <a:pt x="1600200" y="101602"/>
                </a:cubicBezTo>
                <a:lnTo>
                  <a:pt x="1600200" y="507998"/>
                </a:lnTo>
                <a:cubicBezTo>
                  <a:pt x="1600200" y="564111"/>
                  <a:pt x="1554711" y="609600"/>
                  <a:pt x="14985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38100" dist="12700" dir="540000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358727" y="503555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150" y="0"/>
                </a:moveTo>
                <a:cubicBezTo>
                  <a:pt x="36135" y="0"/>
                  <a:pt x="19050" y="17085"/>
                  <a:pt x="19050" y="38100"/>
                </a:cubicBezTo>
                <a:lnTo>
                  <a:pt x="19050" y="266700"/>
                </a:lnTo>
                <a:cubicBezTo>
                  <a:pt x="19050" y="287715"/>
                  <a:pt x="36135" y="304800"/>
                  <a:pt x="57150" y="304800"/>
                </a:cubicBezTo>
                <a:lnTo>
                  <a:pt x="104775" y="304800"/>
                </a:lnTo>
                <a:lnTo>
                  <a:pt x="104775" y="238125"/>
                </a:lnTo>
                <a:cubicBezTo>
                  <a:pt x="104775" y="217110"/>
                  <a:pt x="121860" y="200025"/>
                  <a:pt x="142875" y="200025"/>
                </a:cubicBezTo>
                <a:lnTo>
                  <a:pt x="247650" y="200025"/>
                </a:lnTo>
                <a:lnTo>
                  <a:pt x="247650" y="101501"/>
                </a:lnTo>
                <a:cubicBezTo>
                  <a:pt x="247650" y="91380"/>
                  <a:pt x="243661" y="81677"/>
                  <a:pt x="236518" y="74533"/>
                </a:cubicBezTo>
                <a:lnTo>
                  <a:pt x="173057" y="11132"/>
                </a:lnTo>
                <a:cubicBezTo>
                  <a:pt x="165914" y="3989"/>
                  <a:pt x="156270" y="0"/>
                  <a:pt x="146149" y="0"/>
                </a:cubicBezTo>
                <a:lnTo>
                  <a:pt x="57150" y="0"/>
                </a:lnTo>
                <a:close/>
                <a:moveTo>
                  <a:pt x="212824" y="104775"/>
                </a:moveTo>
                <a:lnTo>
                  <a:pt x="157163" y="104775"/>
                </a:lnTo>
                <a:cubicBezTo>
                  <a:pt x="149245" y="104775"/>
                  <a:pt x="142875" y="98405"/>
                  <a:pt x="142875" y="90488"/>
                </a:cubicBezTo>
                <a:lnTo>
                  <a:pt x="142875" y="34826"/>
                </a:lnTo>
                <a:lnTo>
                  <a:pt x="212824" y="104775"/>
                </a:lnTo>
                <a:close/>
                <a:moveTo>
                  <a:pt x="157163" y="226219"/>
                </a:moveTo>
                <a:cubicBezTo>
                  <a:pt x="142696" y="226219"/>
                  <a:pt x="130969" y="237946"/>
                  <a:pt x="130969" y="252413"/>
                </a:cubicBezTo>
                <a:lnTo>
                  <a:pt x="130969" y="300038"/>
                </a:lnTo>
                <a:cubicBezTo>
                  <a:pt x="130969" y="314504"/>
                  <a:pt x="142696" y="326231"/>
                  <a:pt x="157163" y="326231"/>
                </a:cubicBezTo>
                <a:lnTo>
                  <a:pt x="166688" y="326231"/>
                </a:lnTo>
                <a:cubicBezTo>
                  <a:pt x="181154" y="326231"/>
                  <a:pt x="192881" y="314504"/>
                  <a:pt x="192881" y="300038"/>
                </a:cubicBezTo>
                <a:lnTo>
                  <a:pt x="192881" y="295275"/>
                </a:lnTo>
                <a:cubicBezTo>
                  <a:pt x="192881" y="288727"/>
                  <a:pt x="187523" y="283369"/>
                  <a:pt x="180975" y="283369"/>
                </a:cubicBezTo>
                <a:cubicBezTo>
                  <a:pt x="174427" y="283369"/>
                  <a:pt x="169069" y="288727"/>
                  <a:pt x="169069" y="295275"/>
                </a:cubicBezTo>
                <a:lnTo>
                  <a:pt x="169069" y="300038"/>
                </a:lnTo>
                <a:cubicBezTo>
                  <a:pt x="169069" y="301347"/>
                  <a:pt x="167997" y="302419"/>
                  <a:pt x="166688" y="302419"/>
                </a:cubicBezTo>
                <a:lnTo>
                  <a:pt x="157163" y="302419"/>
                </a:lnTo>
                <a:cubicBezTo>
                  <a:pt x="155853" y="302419"/>
                  <a:pt x="154781" y="301347"/>
                  <a:pt x="154781" y="300038"/>
                </a:cubicBezTo>
                <a:lnTo>
                  <a:pt x="154781" y="252413"/>
                </a:lnTo>
                <a:cubicBezTo>
                  <a:pt x="154781" y="251103"/>
                  <a:pt x="155853" y="250031"/>
                  <a:pt x="157163" y="250031"/>
                </a:cubicBezTo>
                <a:lnTo>
                  <a:pt x="166688" y="250031"/>
                </a:lnTo>
                <a:cubicBezTo>
                  <a:pt x="167997" y="250031"/>
                  <a:pt x="169069" y="251103"/>
                  <a:pt x="169069" y="252413"/>
                </a:cubicBezTo>
                <a:lnTo>
                  <a:pt x="169069" y="257175"/>
                </a:lnTo>
                <a:cubicBezTo>
                  <a:pt x="169069" y="263723"/>
                  <a:pt x="174427" y="269081"/>
                  <a:pt x="180975" y="269081"/>
                </a:cubicBezTo>
                <a:cubicBezTo>
                  <a:pt x="187523" y="269081"/>
                  <a:pt x="192881" y="263723"/>
                  <a:pt x="192881" y="257175"/>
                </a:cubicBezTo>
                <a:lnTo>
                  <a:pt x="192881" y="252413"/>
                </a:lnTo>
                <a:cubicBezTo>
                  <a:pt x="192881" y="237946"/>
                  <a:pt x="181154" y="226219"/>
                  <a:pt x="166688" y="226219"/>
                </a:cubicBezTo>
                <a:lnTo>
                  <a:pt x="157163" y="226219"/>
                </a:lnTo>
                <a:close/>
                <a:moveTo>
                  <a:pt x="238125" y="226219"/>
                </a:moveTo>
                <a:cubicBezTo>
                  <a:pt x="221040" y="226219"/>
                  <a:pt x="207169" y="240090"/>
                  <a:pt x="207169" y="257175"/>
                </a:cubicBezTo>
                <a:cubicBezTo>
                  <a:pt x="207169" y="274260"/>
                  <a:pt x="221040" y="288131"/>
                  <a:pt x="238125" y="288131"/>
                </a:cubicBezTo>
                <a:cubicBezTo>
                  <a:pt x="242054" y="288131"/>
                  <a:pt x="245269" y="291346"/>
                  <a:pt x="245269" y="295275"/>
                </a:cubicBezTo>
                <a:cubicBezTo>
                  <a:pt x="245269" y="299204"/>
                  <a:pt x="242054" y="302419"/>
                  <a:pt x="238125" y="302419"/>
                </a:cubicBezTo>
                <a:lnTo>
                  <a:pt x="219075" y="302419"/>
                </a:lnTo>
                <a:cubicBezTo>
                  <a:pt x="212527" y="302419"/>
                  <a:pt x="207169" y="307777"/>
                  <a:pt x="207169" y="314325"/>
                </a:cubicBezTo>
                <a:cubicBezTo>
                  <a:pt x="207169" y="320873"/>
                  <a:pt x="212527" y="326231"/>
                  <a:pt x="219075" y="326231"/>
                </a:cubicBezTo>
                <a:lnTo>
                  <a:pt x="238125" y="326231"/>
                </a:lnTo>
                <a:cubicBezTo>
                  <a:pt x="255210" y="326231"/>
                  <a:pt x="269081" y="312360"/>
                  <a:pt x="269081" y="295275"/>
                </a:cubicBezTo>
                <a:cubicBezTo>
                  <a:pt x="269081" y="278190"/>
                  <a:pt x="255210" y="264319"/>
                  <a:pt x="238125" y="264319"/>
                </a:cubicBezTo>
                <a:cubicBezTo>
                  <a:pt x="234196" y="264319"/>
                  <a:pt x="230981" y="261104"/>
                  <a:pt x="230981" y="257175"/>
                </a:cubicBezTo>
                <a:cubicBezTo>
                  <a:pt x="230981" y="253246"/>
                  <a:pt x="234196" y="250031"/>
                  <a:pt x="238125" y="250031"/>
                </a:cubicBezTo>
                <a:lnTo>
                  <a:pt x="252413" y="250031"/>
                </a:lnTo>
                <a:cubicBezTo>
                  <a:pt x="258961" y="250031"/>
                  <a:pt x="264319" y="244673"/>
                  <a:pt x="264319" y="238125"/>
                </a:cubicBezTo>
                <a:cubicBezTo>
                  <a:pt x="264319" y="231577"/>
                  <a:pt x="258961" y="226219"/>
                  <a:pt x="252413" y="226219"/>
                </a:cubicBezTo>
                <a:lnTo>
                  <a:pt x="238125" y="226219"/>
                </a:lnTo>
                <a:close/>
                <a:moveTo>
                  <a:pt x="295275" y="226219"/>
                </a:moveTo>
                <a:cubicBezTo>
                  <a:pt x="288727" y="226219"/>
                  <a:pt x="283369" y="231577"/>
                  <a:pt x="283369" y="238125"/>
                </a:cubicBezTo>
                <a:lnTo>
                  <a:pt x="283369" y="256937"/>
                </a:lnTo>
                <a:cubicBezTo>
                  <a:pt x="283369" y="278070"/>
                  <a:pt x="289620" y="298787"/>
                  <a:pt x="301347" y="316349"/>
                </a:cubicBezTo>
                <a:lnTo>
                  <a:pt x="304383" y="320933"/>
                </a:lnTo>
                <a:cubicBezTo>
                  <a:pt x="306586" y="324267"/>
                  <a:pt x="310336" y="326231"/>
                  <a:pt x="314265" y="326231"/>
                </a:cubicBezTo>
                <a:cubicBezTo>
                  <a:pt x="318195" y="326231"/>
                  <a:pt x="321945" y="324267"/>
                  <a:pt x="324148" y="320933"/>
                </a:cubicBezTo>
                <a:lnTo>
                  <a:pt x="327184" y="316349"/>
                </a:lnTo>
                <a:cubicBezTo>
                  <a:pt x="338911" y="298728"/>
                  <a:pt x="345162" y="278070"/>
                  <a:pt x="345162" y="256937"/>
                </a:cubicBezTo>
                <a:lnTo>
                  <a:pt x="345162" y="238125"/>
                </a:lnTo>
                <a:cubicBezTo>
                  <a:pt x="345162" y="231577"/>
                  <a:pt x="339804" y="226219"/>
                  <a:pt x="333256" y="226219"/>
                </a:cubicBezTo>
                <a:cubicBezTo>
                  <a:pt x="326708" y="226219"/>
                  <a:pt x="321350" y="231577"/>
                  <a:pt x="321350" y="238125"/>
                </a:cubicBezTo>
                <a:lnTo>
                  <a:pt x="321350" y="256937"/>
                </a:lnTo>
                <a:cubicBezTo>
                  <a:pt x="321350" y="268605"/>
                  <a:pt x="318909" y="280095"/>
                  <a:pt x="314206" y="290691"/>
                </a:cubicBezTo>
                <a:cubicBezTo>
                  <a:pt x="309503" y="280095"/>
                  <a:pt x="307062" y="268605"/>
                  <a:pt x="307062" y="256937"/>
                </a:cubicBezTo>
                <a:lnTo>
                  <a:pt x="307062" y="238125"/>
                </a:lnTo>
                <a:cubicBezTo>
                  <a:pt x="307062" y="231577"/>
                  <a:pt x="301704" y="226219"/>
                  <a:pt x="295156" y="226219"/>
                </a:cubicBezTo>
                <a:close/>
              </a:path>
            </a:pathLst>
          </a:custGeom>
          <a:solidFill>
            <a:srgbClr val="42A5F5"/>
          </a:solidFill>
          <a:ln/>
        </p:spPr>
      </p:sp>
      <p:sp>
        <p:nvSpPr>
          <p:cNvPr id="11" name="Text 8"/>
          <p:cNvSpPr/>
          <p:nvPr/>
        </p:nvSpPr>
        <p:spPr>
          <a:xfrm>
            <a:off x="2822277" y="50292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CSV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3-d2r90upe3tpg8rchuq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2095" y="0"/>
            <a:ext cx="12461240" cy="6956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4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Go-to-Market Strategy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097834" y="2080320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072" y="1218568"/>
            <a:ext cx="7308980" cy="28091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Partner with open-access journals (BioRxiv, PLOS).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Offer 3-month pilot to top 10 universities.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Reach biotech investors via LinkedIn campaigns.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Integrate into Notion / Google Docs for inline AI claim checks.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90279" y="5761688"/>
            <a:ext cx="10674665" cy="12319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9B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🎙️ “We’re targeting people who can’t afford to be wrong — scientists and investors.”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3-d2r90upe3tpg8rchuq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4620" y="33338"/>
            <a:ext cx="12461240" cy="6956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3206"/>
            <a:ext cx="12192000" cy="90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Prevent Misinformation, Others Just Report It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04800" y="1352550"/>
            <a:ext cx="4673600" cy="2438400"/>
          </a:xfrm>
          <a:custGeom>
            <a:avLst/>
            <a:gdLst/>
            <a:ahLst/>
            <a:cxnLst/>
            <a:rect l="l" t="t" r="r" b="b"/>
            <a:pathLst>
              <a:path w="4673600" h="2438400">
                <a:moveTo>
                  <a:pt x="101608" y="0"/>
                </a:moveTo>
                <a:lnTo>
                  <a:pt x="4571992" y="0"/>
                </a:lnTo>
                <a:cubicBezTo>
                  <a:pt x="4628108" y="0"/>
                  <a:pt x="4673600" y="45492"/>
                  <a:pt x="4673600" y="101608"/>
                </a:cubicBezTo>
                <a:lnTo>
                  <a:pt x="4673600" y="2336792"/>
                </a:lnTo>
                <a:cubicBezTo>
                  <a:pt x="4673600" y="2392908"/>
                  <a:pt x="4628108" y="2438400"/>
                  <a:pt x="45719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14337" y="1522963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A55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Competition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44762" y="211455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00114" y="86707"/>
                </a:moveTo>
                <a:lnTo>
                  <a:pt x="200114" y="130999"/>
                </a:lnTo>
                <a:lnTo>
                  <a:pt x="200561" y="131445"/>
                </a:lnTo>
                <a:cubicBezTo>
                  <a:pt x="206365" y="57864"/>
                  <a:pt x="267891" y="0"/>
                  <a:pt x="342989" y="0"/>
                </a:cubicBezTo>
                <a:cubicBezTo>
                  <a:pt x="360938" y="0"/>
                  <a:pt x="378172" y="3304"/>
                  <a:pt x="393978" y="9376"/>
                </a:cubicBezTo>
                <a:cubicBezTo>
                  <a:pt x="402908" y="12769"/>
                  <a:pt x="404515" y="24110"/>
                  <a:pt x="397818" y="30897"/>
                </a:cubicBezTo>
                <a:lnTo>
                  <a:pt x="318611" y="110103"/>
                </a:lnTo>
                <a:cubicBezTo>
                  <a:pt x="315932" y="112782"/>
                  <a:pt x="314414" y="116443"/>
                  <a:pt x="314414" y="120194"/>
                </a:cubicBezTo>
                <a:lnTo>
                  <a:pt x="314414" y="157163"/>
                </a:lnTo>
                <a:cubicBezTo>
                  <a:pt x="314414" y="165021"/>
                  <a:pt x="320844" y="171450"/>
                  <a:pt x="328702" y="171450"/>
                </a:cubicBezTo>
                <a:lnTo>
                  <a:pt x="365671" y="171450"/>
                </a:lnTo>
                <a:cubicBezTo>
                  <a:pt x="369421" y="171450"/>
                  <a:pt x="373082" y="169932"/>
                  <a:pt x="375761" y="167253"/>
                </a:cubicBezTo>
                <a:lnTo>
                  <a:pt x="454968" y="88047"/>
                </a:lnTo>
                <a:cubicBezTo>
                  <a:pt x="461754" y="81260"/>
                  <a:pt x="473095" y="82957"/>
                  <a:pt x="476488" y="91886"/>
                </a:cubicBezTo>
                <a:cubicBezTo>
                  <a:pt x="482560" y="107692"/>
                  <a:pt x="485864" y="124926"/>
                  <a:pt x="485864" y="142875"/>
                </a:cubicBezTo>
                <a:cubicBezTo>
                  <a:pt x="485864" y="196989"/>
                  <a:pt x="455771" y="244138"/>
                  <a:pt x="411301" y="268337"/>
                </a:cubicBezTo>
                <a:lnTo>
                  <a:pt x="484078" y="341114"/>
                </a:lnTo>
                <a:cubicBezTo>
                  <a:pt x="500777" y="357813"/>
                  <a:pt x="500777" y="384959"/>
                  <a:pt x="484078" y="401747"/>
                </a:cubicBezTo>
                <a:lnTo>
                  <a:pt x="430411" y="455414"/>
                </a:lnTo>
                <a:cubicBezTo>
                  <a:pt x="413712" y="472113"/>
                  <a:pt x="386566" y="472113"/>
                  <a:pt x="369778" y="455414"/>
                </a:cubicBezTo>
                <a:lnTo>
                  <a:pt x="257264" y="342900"/>
                </a:lnTo>
                <a:cubicBezTo>
                  <a:pt x="232797" y="318433"/>
                  <a:pt x="227261" y="282267"/>
                  <a:pt x="240744" y="252442"/>
                </a:cubicBezTo>
                <a:lnTo>
                  <a:pt x="159752" y="171450"/>
                </a:lnTo>
                <a:lnTo>
                  <a:pt x="115461" y="171450"/>
                </a:lnTo>
                <a:cubicBezTo>
                  <a:pt x="105906" y="171450"/>
                  <a:pt x="96976" y="166717"/>
                  <a:pt x="91708" y="158770"/>
                </a:cubicBezTo>
                <a:lnTo>
                  <a:pt x="20895" y="52596"/>
                </a:lnTo>
                <a:cubicBezTo>
                  <a:pt x="17145" y="46970"/>
                  <a:pt x="17859" y="39380"/>
                  <a:pt x="22681" y="34558"/>
                </a:cubicBezTo>
                <a:lnTo>
                  <a:pt x="63222" y="-5983"/>
                </a:lnTo>
                <a:cubicBezTo>
                  <a:pt x="68044" y="-10805"/>
                  <a:pt x="75545" y="-11519"/>
                  <a:pt x="81260" y="-7769"/>
                </a:cubicBezTo>
                <a:lnTo>
                  <a:pt x="187434" y="62954"/>
                </a:lnTo>
                <a:cubicBezTo>
                  <a:pt x="195382" y="68223"/>
                  <a:pt x="200114" y="77153"/>
                  <a:pt x="200114" y="86707"/>
                </a:cubicBezTo>
                <a:close/>
                <a:moveTo>
                  <a:pt x="192524" y="264855"/>
                </a:moveTo>
                <a:cubicBezTo>
                  <a:pt x="186898" y="297894"/>
                  <a:pt x="194667" y="332809"/>
                  <a:pt x="216098" y="360759"/>
                </a:cubicBezTo>
                <a:lnTo>
                  <a:pt x="131266" y="445502"/>
                </a:lnTo>
                <a:cubicBezTo>
                  <a:pt x="106174" y="470595"/>
                  <a:pt x="65455" y="470595"/>
                  <a:pt x="40362" y="445502"/>
                </a:cubicBezTo>
                <a:cubicBezTo>
                  <a:pt x="15270" y="420410"/>
                  <a:pt x="15270" y="379690"/>
                  <a:pt x="40362" y="354598"/>
                </a:cubicBezTo>
                <a:lnTo>
                  <a:pt x="161270" y="233690"/>
                </a:lnTo>
                <a:lnTo>
                  <a:pt x="192524" y="264944"/>
                </a:ln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7" name="Text 4"/>
          <p:cNvSpPr/>
          <p:nvPr/>
        </p:nvSpPr>
        <p:spPr>
          <a:xfrm>
            <a:off x="203200" y="27178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SciScore &amp; Retraction Watch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10515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Focus on formatting or post-error analysis. They react after the damage is done.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70598" y="21145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0" name="Shape 7"/>
          <p:cNvSpPr/>
          <p:nvPr/>
        </p:nvSpPr>
        <p:spPr>
          <a:xfrm>
            <a:off x="7239000" y="1352550"/>
            <a:ext cx="4622800" cy="2438400"/>
          </a:xfrm>
          <a:custGeom>
            <a:avLst/>
            <a:gdLst/>
            <a:ahLst/>
            <a:cxnLst/>
            <a:rect l="l" t="t" r="r" b="b"/>
            <a:pathLst>
              <a:path w="4622800" h="2438400">
                <a:moveTo>
                  <a:pt x="101608" y="0"/>
                </a:moveTo>
                <a:lnTo>
                  <a:pt x="4521192" y="0"/>
                </a:lnTo>
                <a:cubicBezTo>
                  <a:pt x="4577308" y="0"/>
                  <a:pt x="4622800" y="45492"/>
                  <a:pt x="4622800" y="101608"/>
                </a:cubicBezTo>
                <a:lnTo>
                  <a:pt x="4622800" y="2336792"/>
                </a:lnTo>
                <a:cubicBezTo>
                  <a:pt x="4622800" y="2392908"/>
                  <a:pt x="4577308" y="2438400"/>
                  <a:pt x="45211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B1CEEB"/>
          </a:solidFill>
          <a:ln w="25400">
            <a:solidFill>
              <a:srgbClr val="007BFF"/>
            </a:solidFill>
            <a:prstDash val="solid"/>
          </a:ln>
          <a:effectLst>
            <a:outerShdw sx="100000" sy="100000" kx="0" ky="0" algn="bl" rotWithShape="0" blurRad="317500" dist="254000" dir="5400000">
              <a:srgbClr val="000000">
                <a:alpha val="10196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37400" y="1592795"/>
            <a:ext cx="472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BioClaim Guard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293225" y="211455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265390" y="457200"/>
                </a:lnTo>
                <a:cubicBezTo>
                  <a:pt x="233065" y="419160"/>
                  <a:pt x="214313" y="370136"/>
                  <a:pt x="214313" y="318254"/>
                </a:cubicBezTo>
                <a:lnTo>
                  <a:pt x="214313" y="290483"/>
                </a:lnTo>
                <a:cubicBezTo>
                  <a:pt x="214313" y="283964"/>
                  <a:pt x="215205" y="277535"/>
                  <a:pt x="216902" y="271462"/>
                </a:cubicBezTo>
                <a:lnTo>
                  <a:pt x="173504" y="271462"/>
                </a:lnTo>
                <a:close/>
                <a:moveTo>
                  <a:pt x="397639" y="436215"/>
                </a:moveTo>
                <a:lnTo>
                  <a:pt x="385763" y="441841"/>
                </a:lnTo>
                <a:lnTo>
                  <a:pt x="385763" y="273874"/>
                </a:lnTo>
                <a:lnTo>
                  <a:pt x="471488" y="302449"/>
                </a:lnTo>
                <a:lnTo>
                  <a:pt x="471488" y="319951"/>
                </a:lnTo>
                <a:cubicBezTo>
                  <a:pt x="471488" y="369778"/>
                  <a:pt x="442734" y="415052"/>
                  <a:pt x="397639" y="436305"/>
                </a:cubicBezTo>
                <a:close/>
                <a:moveTo>
                  <a:pt x="376744" y="231725"/>
                </a:moveTo>
                <a:lnTo>
                  <a:pt x="276731" y="265033"/>
                </a:lnTo>
                <a:cubicBezTo>
                  <a:pt x="265033" y="268962"/>
                  <a:pt x="257175" y="279856"/>
                  <a:pt x="257175" y="292179"/>
                </a:cubicBezTo>
                <a:lnTo>
                  <a:pt x="257175" y="319951"/>
                </a:lnTo>
                <a:cubicBezTo>
                  <a:pt x="257175" y="386388"/>
                  <a:pt x="295573" y="446842"/>
                  <a:pt x="355580" y="475059"/>
                </a:cubicBezTo>
                <a:lnTo>
                  <a:pt x="372100" y="482828"/>
                </a:lnTo>
                <a:cubicBezTo>
                  <a:pt x="376386" y="484793"/>
                  <a:pt x="381030" y="485864"/>
                  <a:pt x="385673" y="485864"/>
                </a:cubicBezTo>
                <a:cubicBezTo>
                  <a:pt x="390317" y="485864"/>
                  <a:pt x="395049" y="484793"/>
                  <a:pt x="399246" y="482828"/>
                </a:cubicBezTo>
                <a:lnTo>
                  <a:pt x="415766" y="475059"/>
                </a:lnTo>
                <a:cubicBezTo>
                  <a:pt x="475952" y="446752"/>
                  <a:pt x="514350" y="386298"/>
                  <a:pt x="514350" y="319861"/>
                </a:cubicBezTo>
                <a:lnTo>
                  <a:pt x="514350" y="292090"/>
                </a:lnTo>
                <a:cubicBezTo>
                  <a:pt x="514350" y="279767"/>
                  <a:pt x="506492" y="268873"/>
                  <a:pt x="494794" y="264944"/>
                </a:cubicBezTo>
                <a:lnTo>
                  <a:pt x="394781" y="231636"/>
                </a:lnTo>
                <a:cubicBezTo>
                  <a:pt x="388888" y="229672"/>
                  <a:pt x="382548" y="229672"/>
                  <a:pt x="376744" y="231636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3" name="Text 10"/>
          <p:cNvSpPr/>
          <p:nvPr/>
        </p:nvSpPr>
        <p:spPr>
          <a:xfrm>
            <a:off x="7137400" y="27178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7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Real-time, Preventive Validation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42200" y="3105150"/>
            <a:ext cx="421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Transparent AI explanations build trust and stop misinformation before it spreads.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4827" y="3984428"/>
            <a:ext cx="3854431" cy="459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 BioClaim is better: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4827" y="4320962"/>
            <a:ext cx="7620000" cy="10873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Proactive validation: Unlike Retraction Watch, BioClaim Guard works before claims go live.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 evidence scoring + classification: Goes beyond compliance checklists (SciScore) to evaluate scientific reliability of statements.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3-d2r90upe3tpg8rchuq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6040" y="0"/>
            <a:ext cx="12461240" cy="6956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200" y="338494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Development Plan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4953000"/>
            <a:ext cx="11684000" cy="711200"/>
          </a:xfrm>
          <a:custGeom>
            <a:avLst/>
            <a:gdLst/>
            <a:ahLst/>
            <a:cxnLst/>
            <a:rect l="l" t="t" r="r" b="b"/>
            <a:pathLst>
              <a:path w="11684000" h="7112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609598"/>
                </a:lnTo>
                <a:cubicBezTo>
                  <a:pt x="11684000" y="665711"/>
                  <a:pt x="11638511" y="711200"/>
                  <a:pt x="115823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203200" y="51562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milestone unlocks a new customer tier and reduces onboarding friction to near zero.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0424" y="1129705"/>
            <a:ext cx="9008484" cy="37069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built the first working version of BioClaim Guard in n8n to extract scientific claims, search PubMed, and classify their reliability.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Next, I’ll improve the AI’s reasoning so it understands context and reduces false scores.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Then I’ll make the tool easier to use by adding a simple web or Streamlit interface for uploading and viewing results.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 early 2026, I’ll run peer testing with classmates to get feedback on clarity, accuracy, and usability.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552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Finally, I’ll refine and package the workflow as a portfolio-ready demo with clear documentation and a public showcase.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3-d2r90upe3tpg8rchuq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2095" y="0"/>
            <a:ext cx="12461240" cy="6956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584325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92% Expert Match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193925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42A5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1,000 Claims per Day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2955925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Stress tests prove the system scales. A live screen-cast of the dashboard and sample risk report shows the engine works today and is ready for tomorrow's volume. 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4149725"/>
            <a:ext cx="5435600" cy="1130300"/>
          </a:xfrm>
          <a:custGeom>
            <a:avLst/>
            <a:gdLst/>
            <a:ahLst/>
            <a:cxnLst/>
            <a:rect l="l" t="t" r="r" b="b"/>
            <a:pathLst>
              <a:path w="5435600" h="1130300">
                <a:moveTo>
                  <a:pt x="101603" y="0"/>
                </a:moveTo>
                <a:lnTo>
                  <a:pt x="5333997" y="0"/>
                </a:lnTo>
                <a:cubicBezTo>
                  <a:pt x="5390111" y="0"/>
                  <a:pt x="5435600" y="45489"/>
                  <a:pt x="5435600" y="101603"/>
                </a:cubicBezTo>
                <a:lnTo>
                  <a:pt x="5435600" y="1028697"/>
                </a:lnTo>
                <a:cubicBezTo>
                  <a:pt x="5435600" y="1084811"/>
                  <a:pt x="5390111" y="1130300"/>
                  <a:pt x="53339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B1CEEB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4352925"/>
            <a:ext cx="502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7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per claim: 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$0.02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765675"/>
            <a:ext cx="553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2A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vs. $50/hr manual review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96000" y="2260600"/>
            <a:ext cx="5842000" cy="1066800"/>
          </a:xfrm>
          <a:custGeom>
            <a:avLst/>
            <a:gdLst/>
            <a:ahLst/>
            <a:cxnLst/>
            <a:rect l="l" t="t" r="r" b="b"/>
            <a:pathLst>
              <a:path w="5842000" h="1066800">
                <a:moveTo>
                  <a:pt x="101602" y="0"/>
                </a:moveTo>
                <a:lnTo>
                  <a:pt x="5740398" y="0"/>
                </a:lnTo>
                <a:cubicBezTo>
                  <a:pt x="5796511" y="0"/>
                  <a:pt x="5842000" y="45489"/>
                  <a:pt x="5842000" y="101602"/>
                </a:cubicBezTo>
                <a:lnTo>
                  <a:pt x="5842000" y="965198"/>
                </a:lnTo>
                <a:cubicBezTo>
                  <a:pt x="5842000" y="1021311"/>
                  <a:pt x="5796511" y="1066800"/>
                  <a:pt x="5740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7000" y="2571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2463800"/>
            <a:ext cx="309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0% Error Rate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0" y="2870200"/>
            <a:ext cx="309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 to 10 simultaneous requests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96000" y="3530600"/>
            <a:ext cx="5842000" cy="1066800"/>
          </a:xfrm>
          <a:custGeom>
            <a:avLst/>
            <a:gdLst/>
            <a:ahLst/>
            <a:cxnLst/>
            <a:rect l="l" t="t" r="r" b="b"/>
            <a:pathLst>
              <a:path w="5842000" h="1066800">
                <a:moveTo>
                  <a:pt x="101602" y="0"/>
                </a:moveTo>
                <a:lnTo>
                  <a:pt x="5740398" y="0"/>
                </a:lnTo>
                <a:cubicBezTo>
                  <a:pt x="5796511" y="0"/>
                  <a:pt x="5842000" y="45489"/>
                  <a:pt x="5842000" y="101602"/>
                </a:cubicBezTo>
                <a:lnTo>
                  <a:pt x="5842000" y="965198"/>
                </a:lnTo>
                <a:cubicBezTo>
                  <a:pt x="5842000" y="1021311"/>
                  <a:pt x="5796511" y="1066800"/>
                  <a:pt x="5740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77000" y="3841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42A5F5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0" y="3733800"/>
            <a:ext cx="3479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2A5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5% Timeout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4140200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 50 requests (recovers gracefully)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3-d2r90upe3tpg8rchuq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2095" y="0"/>
            <a:ext cx="12461240" cy="6956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383073"/>
            <a:ext cx="884275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Ask - </a:t>
            </a:r>
            <a:pPr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 I Need to Grow BioClaim Guard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532" y="1194078"/>
            <a:ext cx="6016468" cy="405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Mentorship &amp; Guidance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– Advice from AI/biotech professionals to refine the model and validate results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Technical Support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– Help with deploying the workflow or building a simple web interface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Access to Data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– Public or academic datasets to improve evidence classification accuracy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Collaboration Opportunities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– Peers or labs interested in AI for research integrity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Time &amp; Feedback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7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– Support to test, iterate, and prepare the project for a research portfolio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096000" y="1930400"/>
            <a:ext cx="5842000" cy="863600"/>
          </a:xfrm>
          <a:custGeom>
            <a:avLst/>
            <a:gdLst/>
            <a:ahLst/>
            <a:cxnLst/>
            <a:rect l="l" t="t" r="r" b="b"/>
            <a:pathLst>
              <a:path w="5842000" h="863600">
                <a:moveTo>
                  <a:pt x="101603" y="0"/>
                </a:moveTo>
                <a:lnTo>
                  <a:pt x="5740397" y="0"/>
                </a:lnTo>
                <a:cubicBezTo>
                  <a:pt x="5796511" y="0"/>
                  <a:pt x="5842000" y="45489"/>
                  <a:pt x="5842000" y="101603"/>
                </a:cubicBezTo>
                <a:lnTo>
                  <a:pt x="5842000" y="761997"/>
                </a:lnTo>
                <a:cubicBezTo>
                  <a:pt x="5842000" y="818111"/>
                  <a:pt x="5796511" y="863600"/>
                  <a:pt x="57403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11900" y="221615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7" name="Text 4"/>
          <p:cNvSpPr/>
          <p:nvPr/>
        </p:nvSpPr>
        <p:spPr>
          <a:xfrm>
            <a:off x="6908800" y="2082800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7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8800" y="2387600"/>
            <a:ext cx="297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Engineer + Bioinformatician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96000" y="2997200"/>
            <a:ext cx="5842000" cy="863600"/>
          </a:xfrm>
          <a:custGeom>
            <a:avLst/>
            <a:gdLst/>
            <a:ahLst/>
            <a:cxnLst/>
            <a:rect l="l" t="t" r="r" b="b"/>
            <a:pathLst>
              <a:path w="5842000" h="863600">
                <a:moveTo>
                  <a:pt x="101603" y="0"/>
                </a:moveTo>
                <a:lnTo>
                  <a:pt x="5740397" y="0"/>
                </a:lnTo>
                <a:cubicBezTo>
                  <a:pt x="5796511" y="0"/>
                  <a:pt x="5842000" y="45489"/>
                  <a:pt x="5842000" y="101603"/>
                </a:cubicBezTo>
                <a:lnTo>
                  <a:pt x="5842000" y="761997"/>
                </a:lnTo>
                <a:cubicBezTo>
                  <a:pt x="5842000" y="818111"/>
                  <a:pt x="5796511" y="863600"/>
                  <a:pt x="57403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69050" y="32829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42A5F5"/>
          </a:solidFill>
          <a:ln/>
        </p:spPr>
      </p:sp>
      <p:sp>
        <p:nvSpPr>
          <p:cNvPr id="11" name="Text 8"/>
          <p:cNvSpPr/>
          <p:nvPr/>
        </p:nvSpPr>
        <p:spPr>
          <a:xfrm>
            <a:off x="6908800" y="3149600"/>
            <a:ext cx="302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2A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08800" y="3454400"/>
            <a:ext cx="302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Secure, scalable cloud hosting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7-d2r90vpe3tpg8rchuqhg.jpg">    </p:cNvPr>
          <p:cNvPicPr>
            <a:picLocks noChangeAspect="1"/>
          </p:cNvPicPr>
          <p:nvPr/>
        </p:nvPicPr>
        <p:blipFill>
          <a:blip r:embed="rId1"/>
          <a:srcRect l="3239" r="3239" t="0" b="0"/>
          <a:stretch/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233" y="1894840"/>
            <a:ext cx="6761480" cy="1414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552E8"/>
      </a:accent1>
      <a:accent2>
        <a:srgbClr val="49B2FE"/>
      </a:accent2>
      <a:accent3>
        <a:srgbClr val="95D7F9"/>
      </a:accent3>
      <a:accent4>
        <a:srgbClr val="91B1F1"/>
      </a:accent4>
      <a:accent5>
        <a:srgbClr val="4882F4"/>
      </a:accent5>
      <a:accent6>
        <a:srgbClr val="DBD8F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BioClaim Guard: Truth-as-a-Service</dc:title>
  <dc:subject>BioClaim Guard: Truth-as-a-Service</dc:subject>
  <dc:creator>Kimi</dc:creator>
  <cp:lastModifiedBy>Kimi</cp:lastModifiedBy>
  <cp:revision>1</cp:revision>
  <dcterms:created xsi:type="dcterms:W3CDTF">2025-10-25T02:34:25Z</dcterms:created>
  <dcterms:modified xsi:type="dcterms:W3CDTF">2025-10-25T02:34:25Z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{"Label":"BioClaim Guard: Truth-as-a-Service","ContentProducer":"001191110108MACG2KBH8F10000","ProduceID":"d3u2l9man0vkrah01bg0","ReservedCode1":"","ContentPropagator":"001191110108MACG2KBH8F20000","PropagateID":"d3u2l9man0vkrah01bg0","ReservedCode2":""}</vt:lpwstr>
  </property>
</Properties>
</file>